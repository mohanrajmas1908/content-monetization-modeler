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75" r:id="rId5"/>
    <p:sldId id="260" r:id="rId6"/>
    <p:sldId id="276" r:id="rId7"/>
    <p:sldId id="287" r:id="rId8"/>
    <p:sldId id="289" r:id="rId9"/>
    <p:sldId id="262" r:id="rId10"/>
    <p:sldId id="288" r:id="rId11"/>
    <p:sldId id="290" r:id="rId12"/>
    <p:sldId id="291" r:id="rId13"/>
    <p:sldId id="292" r:id="rId14"/>
    <p:sldId id="293" r:id="rId15"/>
    <p:sldId id="294" r:id="rId16"/>
    <p:sldId id="295" r:id="rId17"/>
    <p:sldId id="296" r:id="rId18"/>
    <p:sldId id="29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06C9C3-956D-459C-A255-071A263D70C6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EBF04B-6389-4D2C-8475-BCC0F2DFA0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194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EBF04B-6389-4D2C-8475-BCC0F2DFA011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9565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C5054-FFBB-169B-93B0-DB3DA08561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5B92C6-0DBF-BA75-1230-B44A20CDCA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FB2C2-622E-85C9-9FED-41B2ECB02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DE178-DD5A-4F03-A3CC-6EEBC03139FE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854599-0354-BAC5-083B-974424CA3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5E180E-1A3B-4760-9A04-4D6C75637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5A102-6581-4CE3-8436-83B6DE35C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65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3CDC3-5E6B-442E-E5A1-70FBAEBBC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9F74B-3B06-E800-1608-C687E2C0CF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62DC07-A018-7A05-C12F-B756571CC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DE178-DD5A-4F03-A3CC-6EEBC03139FE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2CEBE0-490A-CF73-1008-4694AD329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BA50F-3319-119B-719B-BE7DDF024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5A102-6581-4CE3-8436-83B6DE35C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108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7E0A4-2254-8A33-A033-BC980FA18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0D224F-9379-A028-7770-942FDF9A12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32CF66-4F8B-C70B-663E-F6FBFFA0F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DE178-DD5A-4F03-A3CC-6EEBC03139FE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705014-6471-1AC6-DB09-60702E90A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55856-5161-58BA-66CA-BBD762197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5A102-6581-4CE3-8436-83B6DE35C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653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6D350-772D-975A-46BA-B11960A5E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57350-82C1-D5A0-C82F-0CB17892F7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3C6300-C2A1-230F-5BDC-BACC99294B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8787D2-8E08-F3CF-38DD-CD007C842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DE178-DD5A-4F03-A3CC-6EEBC03139FE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60A699-610C-3E13-443B-F91CE6F6E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419699-4C51-4768-983F-2D268202F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5A102-6581-4CE3-8436-83B6DE35C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950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09214-8815-63BC-4672-57325B746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C762A-4AE4-DCFB-51D1-4DF7922A2E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996440-B619-3B64-0406-CB6B586942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B224B9-EDE6-4F2C-CEAD-45E953E448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B77AF2-CB95-A4CA-9DB9-BEA7E7E67C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1BF5B8-E824-22E3-78AF-B893C9376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DE178-DD5A-4F03-A3CC-6EEBC03139FE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F07374-8BEB-A72F-DE45-1F886DA4E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3105D1-04C2-4F21-23CE-F9767CE6A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5A102-6581-4CE3-8436-83B6DE35C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602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024D1-71AC-5A62-9591-B8A1E3A7A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994782-1AE0-8A3F-81FC-3FEED4E31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DE178-DD5A-4F03-A3CC-6EEBC03139FE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65D19B-CEA8-5217-3E99-87D8F638C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031B8D-0ED2-3F90-A46A-3C70F85D2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5A102-6581-4CE3-8436-83B6DE35C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739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91AAFF-0B11-42B9-5947-FE96F3197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DE178-DD5A-4F03-A3CC-6EEBC03139FE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E79FC6-CCF1-8A7E-B78D-4BAA7C9C9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F9880D-D8F3-12AC-CA26-E78A95A7F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5A102-6581-4CE3-8436-83B6DE35C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920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0D00E-5101-D4FE-0D56-2BC5A1353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710F6-700D-7EDE-58A1-5ACBDFAD8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B98CEC-EA92-BBBC-A5EA-CAEEB7DD0A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4D6273-4767-FD3D-C625-E3341DD7A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DE178-DD5A-4F03-A3CC-6EEBC03139FE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87D16-8F49-A0EC-29AD-CA4FAC4CB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6C4DEC-AA76-0319-D5FD-E4096D1D0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5A102-6581-4CE3-8436-83B6DE35C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833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ED566-68F4-8A32-D91F-9C8999AC5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02802E-DB17-5EF4-40F1-BC6F50EC41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8A6BDD-89FF-EED1-6B41-336D536790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721BBC-C77E-71F8-AD76-293A49461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DE178-DD5A-4F03-A3CC-6EEBC03139FE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180CFF-1B1C-6099-6EEA-EF3F7E3F4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74D70F-B57F-CBB6-69A7-4918D33A6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5A102-6581-4CE3-8436-83B6DE35C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422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34576-D487-DE61-3813-020F155FA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D0B0A6-B597-0DEF-1143-84BD728116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5B117A-0E56-FA00-8DD7-80BB65D20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DE178-DD5A-4F03-A3CC-6EEBC03139FE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66D8AC-0178-D741-6CF9-6728860BC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FFB69-38A5-D415-85C8-B04D6FC4D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5A102-6581-4CE3-8436-83B6DE35C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739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4C08BB-5FB5-9C76-4BAC-B75137DB6C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931FDF-7C29-C056-5DCD-DEAB97F252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A4F53-41CF-4EED-32B7-807062724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DE178-DD5A-4F03-A3CC-6EEBC03139FE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67AB0-A1C8-6FD0-43E2-62B9D06AA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20C89-EC3A-6568-4815-792CEE768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5A102-6581-4CE3-8436-83B6DE35C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556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B96A7E-DDE5-DAC6-7A61-B121C6DE4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62BD5A-E351-FF61-205B-A2536DF333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9E98EC-A3D8-911C-8820-B1560E24E0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1DE178-DD5A-4F03-A3CC-6EEBC03139FE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C0D1C8-4888-4EF3-CFB6-DD306C84DC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BA2A3-3B1E-F202-3446-D913CD177F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05A102-6581-4CE3-8436-83B6DE35C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32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>
            <a:extLst>
              <a:ext uri="{FF2B5EF4-FFF2-40B4-BE49-F238E27FC236}">
                <a16:creationId xmlns:a16="http://schemas.microsoft.com/office/drawing/2014/main" id="{B37E609F-90DB-792B-896C-E862CF2049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35638" y="2013095"/>
            <a:ext cx="1010802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IN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Content Monetization Modeler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7B4CE4D-0839-A265-6EE8-BCAB4229E4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25705" y="5089192"/>
            <a:ext cx="3261686" cy="1500187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Mohan raj </a:t>
            </a:r>
          </a:p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Sr Component Engineer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65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78052-36D2-991C-DEA2-FB2582059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897618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PROJECT OBJECTIVE</a:t>
            </a:r>
            <a:br>
              <a:rPr lang="en-US" sz="48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endParaRPr lang="en-US" sz="4800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68CD6-FF7E-B1BF-3AD1-CC9FAE0D71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Develop a Regression–based predictive model to accurately estimate YouTube ad revenue for individual videos using performance and contextual metrics.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Integrate the trained model into an interactive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Streamlit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web app for real-time revenue forecasting and data-driven content strategy</a:t>
            </a:r>
          </a:p>
        </p:txBody>
      </p:sp>
    </p:spTree>
    <p:extLst>
      <p:ext uri="{BB962C8B-B14F-4D97-AF65-F5344CB8AC3E}">
        <p14:creationId xmlns:p14="http://schemas.microsoft.com/office/powerpoint/2010/main" val="1408135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910A2-CBB6-D9CE-8902-4C6CB80C4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628163" cy="760290"/>
          </a:xfrm>
        </p:spPr>
        <p:txBody>
          <a:bodyPr/>
          <a:lstStyle/>
          <a:p>
            <a:pPr algn="ctr"/>
            <a:r>
              <a:rPr lang="en-US" sz="48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SCOPE OF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BC423-5F12-D9CD-065B-7C2D0FCB7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5417"/>
            <a:ext cx="10515600" cy="4524270"/>
          </a:xfrm>
        </p:spPr>
        <p:txBody>
          <a:bodyPr>
            <a:normAutofit/>
          </a:bodyPr>
          <a:lstStyle/>
          <a:p>
            <a:pPr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The project involves data preprocessing, feature engineering, and exploratory data analysis (EDA) to prepare the dataset, followed by model training and evaluation using regression metrics (R², RMSE, MAE).</a:t>
            </a:r>
          </a:p>
          <a:p>
            <a:pPr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Finally, the optimized model will be deployed in a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Streamlit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application with visual analytics for interpreting revenue predictions and identifying key performance drivers.</a:t>
            </a:r>
          </a:p>
        </p:txBody>
      </p:sp>
    </p:spTree>
    <p:extLst>
      <p:ext uri="{BB962C8B-B14F-4D97-AF65-F5344CB8AC3E}">
        <p14:creationId xmlns:p14="http://schemas.microsoft.com/office/powerpoint/2010/main" val="3822359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845A7-2EF6-9F49-37D2-5989F445D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458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 TOOLS &amp;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403BD-B59C-5113-F920-09FEBBB1C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6419"/>
            <a:ext cx="10515600" cy="5376456"/>
          </a:xfrm>
        </p:spPr>
        <p:txBody>
          <a:bodyPr>
            <a:normAutofit fontScale="47500" lnSpcReduction="20000"/>
          </a:bodyPr>
          <a:lstStyle/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4500" b="1" dirty="0">
                <a:solidFill>
                  <a:schemeClr val="accent1">
                    <a:lumMod val="75000"/>
                  </a:schemeClr>
                </a:solidFill>
              </a:rPr>
              <a:t>Programming &amp; Data Processing</a:t>
            </a:r>
          </a:p>
          <a:p>
            <a:pPr lvl="1" algn="just">
              <a:lnSpc>
                <a:spcPct val="120000"/>
              </a:lnSpc>
            </a:pPr>
            <a:r>
              <a:rPr lang="en-IN" sz="4500" dirty="0">
                <a:solidFill>
                  <a:schemeClr val="accent1">
                    <a:lumMod val="75000"/>
                  </a:schemeClr>
                </a:solidFill>
              </a:rPr>
              <a:t>Python – Core programming language for data analysis and modelling.</a:t>
            </a:r>
          </a:p>
          <a:p>
            <a:pPr lvl="1" algn="just">
              <a:lnSpc>
                <a:spcPct val="120000"/>
              </a:lnSpc>
            </a:pPr>
            <a:r>
              <a:rPr lang="en-IN" sz="4500" dirty="0">
                <a:solidFill>
                  <a:schemeClr val="accent1">
                    <a:lumMod val="75000"/>
                  </a:schemeClr>
                </a:solidFill>
              </a:rPr>
              <a:t>pandas – Data manipulation, cleaning, and transformation.</a:t>
            </a:r>
          </a:p>
          <a:p>
            <a:pPr lvl="1" algn="just">
              <a:lnSpc>
                <a:spcPct val="120000"/>
              </a:lnSpc>
            </a:pPr>
            <a:r>
              <a:rPr lang="en-IN" sz="4500" dirty="0">
                <a:solidFill>
                  <a:schemeClr val="accent1">
                    <a:lumMod val="75000"/>
                  </a:schemeClr>
                </a:solidFill>
              </a:rPr>
              <a:t>scikit-learn – Machine learning, imputation (</a:t>
            </a:r>
            <a:r>
              <a:rPr lang="en-IN" sz="4500" dirty="0" err="1">
                <a:solidFill>
                  <a:schemeClr val="accent1">
                    <a:lumMod val="75000"/>
                  </a:schemeClr>
                </a:solidFill>
              </a:rPr>
              <a:t>KNNImputer</a:t>
            </a:r>
            <a:r>
              <a:rPr lang="en-IN" sz="4500" dirty="0">
                <a:solidFill>
                  <a:schemeClr val="accent1">
                    <a:lumMod val="75000"/>
                  </a:schemeClr>
                </a:solidFill>
              </a:rPr>
              <a:t>), and predictive ML modelling.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4500" b="1" dirty="0">
                <a:solidFill>
                  <a:schemeClr val="accent1">
                    <a:lumMod val="75000"/>
                  </a:schemeClr>
                </a:solidFill>
              </a:rPr>
              <a:t>Data Visualization &amp; Reporting</a:t>
            </a:r>
          </a:p>
          <a:p>
            <a:pPr lvl="1" algn="just">
              <a:lnSpc>
                <a:spcPct val="120000"/>
              </a:lnSpc>
            </a:pPr>
            <a:r>
              <a:rPr lang="en-IN" sz="4500" dirty="0">
                <a:solidFill>
                  <a:schemeClr val="accent1">
                    <a:lumMod val="75000"/>
                  </a:schemeClr>
                </a:solidFill>
              </a:rPr>
              <a:t>Matplotlib &amp; Seaborn – For exploratory data analysis and static visualizations.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4500" b="1" dirty="0">
                <a:solidFill>
                  <a:schemeClr val="accent1">
                    <a:lumMod val="75000"/>
                  </a:schemeClr>
                </a:solidFill>
              </a:rPr>
              <a:t>Data Storage &amp; Management</a:t>
            </a:r>
          </a:p>
          <a:p>
            <a:pPr lvl="1" algn="just">
              <a:lnSpc>
                <a:spcPct val="120000"/>
              </a:lnSpc>
            </a:pPr>
            <a:r>
              <a:rPr lang="en-IN" sz="4500" dirty="0">
                <a:solidFill>
                  <a:schemeClr val="accent1">
                    <a:lumMod val="75000"/>
                  </a:schemeClr>
                </a:solidFill>
              </a:rPr>
              <a:t>SQL – For scalable data querying and integration.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4500" b="1" dirty="0">
                <a:solidFill>
                  <a:schemeClr val="accent1">
                    <a:lumMod val="75000"/>
                  </a:schemeClr>
                </a:solidFill>
              </a:rPr>
              <a:t>Deployment</a:t>
            </a:r>
            <a:r>
              <a:rPr lang="en-IN" sz="4500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lvl="1" algn="just">
              <a:lnSpc>
                <a:spcPct val="120000"/>
              </a:lnSpc>
            </a:pPr>
            <a:r>
              <a:rPr lang="en-US" sz="4500" dirty="0" err="1">
                <a:solidFill>
                  <a:schemeClr val="accent1">
                    <a:lumMod val="75000"/>
                  </a:schemeClr>
                </a:solidFill>
              </a:rPr>
              <a:t>Streamlit</a:t>
            </a:r>
            <a:r>
              <a:rPr lang="en-US" sz="4500" dirty="0">
                <a:solidFill>
                  <a:schemeClr val="accent1">
                    <a:lumMod val="75000"/>
                  </a:schemeClr>
                </a:solidFill>
              </a:rPr>
              <a:t> - lightweight web server + a React frontend to turn scripts into interactive web apps.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7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D3680-CE67-85D1-60A6-1F0DDD867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8087"/>
          </a:xfrm>
        </p:spPr>
        <p:txBody>
          <a:bodyPr/>
          <a:lstStyle/>
          <a:p>
            <a:r>
              <a:rPr lang="en-US" sz="4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DATA EXTRACTION AND DATAFRAME CREATION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2E121-CD52-1FDB-5777-D9EBE9D528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3212"/>
            <a:ext cx="105156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Data extraction is done locally by read comment for the CSV. File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Extracted data is validated for there “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</a:rPr>
              <a:t>dtype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 “,” non-null count”,” column”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If duplicate are found same is removed from the DF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Then the cleaned data is stored to the ‘MY SQL”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1A4DD5-97F6-F6C8-FEEF-F3902C8841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41" y="3157684"/>
            <a:ext cx="11151173" cy="311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2055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35C23-635A-3CF4-D624-AA99EF152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4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EXPLORATORY DATA ANALYSIS (EDA)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7281D-893D-EA73-42F4-D84072D10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1343"/>
            <a:ext cx="10515600" cy="4685620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IN" sz="2100" dirty="0">
                <a:solidFill>
                  <a:schemeClr val="accent1">
                    <a:lumMod val="75000"/>
                  </a:schemeClr>
                </a:solidFill>
              </a:rPr>
              <a:t>likes- Missing values which was handled by </a:t>
            </a:r>
            <a:r>
              <a:rPr lang="en-US" sz="2100" dirty="0">
                <a:solidFill>
                  <a:schemeClr val="accent1">
                    <a:lumMod val="75000"/>
                  </a:schemeClr>
                </a:solidFill>
              </a:rPr>
              <a:t>KNN imputation  with neighbors  5 </a:t>
            </a:r>
            <a:endParaRPr lang="en-IN" sz="2100" dirty="0">
              <a:solidFill>
                <a:schemeClr val="accent1">
                  <a:lumMod val="75000"/>
                </a:schemeClr>
              </a:solidFill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100" dirty="0">
                <a:solidFill>
                  <a:schemeClr val="accent1">
                    <a:lumMod val="75000"/>
                  </a:schemeClr>
                </a:solidFill>
              </a:rPr>
              <a:t>Comments-</a:t>
            </a:r>
            <a:r>
              <a:rPr lang="en-IN" sz="2100" dirty="0">
                <a:solidFill>
                  <a:schemeClr val="accent1">
                    <a:lumMod val="75000"/>
                  </a:schemeClr>
                </a:solidFill>
              </a:rPr>
              <a:t> Missing values which was handled by </a:t>
            </a:r>
            <a:r>
              <a:rPr lang="en-US" sz="2100" dirty="0">
                <a:solidFill>
                  <a:schemeClr val="accent1">
                    <a:lumMod val="75000"/>
                  </a:schemeClr>
                </a:solidFill>
              </a:rPr>
              <a:t>KNN imputation  with neighbors  5  however told KNN imputation to use the neighbors' columns for imputation </a:t>
            </a:r>
          </a:p>
          <a:p>
            <a:pPr marL="457200" lvl="1" indent="0">
              <a:buNone/>
            </a:pPr>
            <a:endParaRPr lang="en-IN" dirty="0"/>
          </a:p>
          <a:p>
            <a:pPr lvl="1"/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AF7F79-5DF2-571C-B321-97077E1FE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941" y="3058886"/>
            <a:ext cx="8371115" cy="3260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293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BD375-3A3A-7541-5D48-3AC7211C5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EXPLORATORY DATA ANALYSIS (EDA)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8B37715-887C-972B-8E23-0737793F9D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457" y="1779866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Future Engineering:</a:t>
            </a:r>
          </a:p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Converting "date" which consists of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</a:rPr>
              <a:t>Dtype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 "datetime64" for the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</a:rPr>
              <a:t>StandardScaler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 for  Numerical columns </a:t>
            </a:r>
          </a:p>
          <a:p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Created a column “</a:t>
            </a:r>
            <a:r>
              <a:rPr lang="en-IN" sz="2400" dirty="0" err="1">
                <a:solidFill>
                  <a:schemeClr val="accent1">
                    <a:lumMod val="75000"/>
                  </a:schemeClr>
                </a:solidFill>
              </a:rPr>
              <a:t>engagement_rate</a:t>
            </a: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” &amp; “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</a:rPr>
              <a:t>avg_watch_time_per_view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”</a:t>
            </a:r>
          </a:p>
          <a:p>
            <a:endParaRPr lang="en-IN" dirty="0"/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FA26B2-9617-A304-932D-82C9BBCE15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8047" y="3730039"/>
            <a:ext cx="8835905" cy="240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4092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9400E-97E1-9566-A807-B952D88CB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3189"/>
          </a:xfrm>
        </p:spPr>
        <p:txBody>
          <a:bodyPr/>
          <a:lstStyle/>
          <a:p>
            <a:r>
              <a:rPr lang="en-IN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EXPLORATORY DATA ANALYSIS (EDA)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757E8-CD75-3B13-F1EC-D588C02CEA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8314"/>
            <a:ext cx="3712029" cy="1012372"/>
          </a:xfrm>
        </p:spPr>
        <p:txBody>
          <a:bodyPr/>
          <a:lstStyle/>
          <a:p>
            <a:pPr marL="0" indent="0">
              <a:buNone/>
            </a:pPr>
            <a:r>
              <a:rPr lang="en-IN" sz="2400" b="1" dirty="0">
                <a:solidFill>
                  <a:schemeClr val="accent1">
                    <a:lumMod val="75000"/>
                  </a:schemeClr>
                </a:solidFill>
              </a:rPr>
              <a:t>Correlation Heatmap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F4D8D4-C346-494D-06D1-15D6ECF618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0713" y="1208314"/>
            <a:ext cx="6477000" cy="41730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F41758-3B6B-E5BA-3E6A-483C873F07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429000"/>
            <a:ext cx="3984171" cy="2882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2751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4F827-F5A8-0F2B-ABFF-D9C4402EC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721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SQL DATABASE AND TABLE CREATION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3F523B-6B3E-B44B-5265-CF0DEAD8F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1604"/>
            <a:ext cx="10515600" cy="5574617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Set up a connection between your cleaned DataFrame and  MySQL database using ‘sqlalchemy’s ‘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Define MySQL credentials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Creates A connection engine that lets pandas or sqlalchemy's talk to your MySQL database.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Create a database in my SQL with the name “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</a:rPr>
              <a:t>content_monetization_modeler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”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Finally moved the created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</a:rPr>
              <a:t>DataFrame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 to ‘My SQL’ under the database “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</a:rPr>
              <a:t>content_monetization_modeler</a:t>
            </a:r>
            <a:r>
              <a:rPr lang="en-US" sz="2500" dirty="0">
                <a:solidFill>
                  <a:schemeClr val="accent1">
                    <a:lumMod val="50000"/>
                  </a:schemeClr>
                </a:solidFill>
              </a:rPr>
              <a:t>”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CFC6B9-AB43-FD6B-B61B-5CE50BBEC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298" y="4403227"/>
            <a:ext cx="3032187" cy="22081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D536A00-5BC3-BF6A-254D-4BB1DC100B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942" y="4230661"/>
            <a:ext cx="6594209" cy="2465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828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25E44-FA0F-1921-378D-AFBCBFDD9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EXPLORATORY DATA ANALYSIS (EDA)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0E221-D900-5FDF-0DD2-200A900696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400" b="1" dirty="0" err="1">
                <a:solidFill>
                  <a:schemeClr val="accent1">
                    <a:lumMod val="75000"/>
                  </a:schemeClr>
                </a:solidFill>
              </a:rPr>
              <a:t>StandardScaler</a:t>
            </a:r>
            <a:r>
              <a:rPr lang="en-IN" sz="2400" b="1" dirty="0">
                <a:solidFill>
                  <a:schemeClr val="accent1">
                    <a:lumMod val="75000"/>
                  </a:schemeClr>
                </a:solidFill>
              </a:rPr>
              <a:t> for Numerical  columns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One‑Hot Encoding for categorical columns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1FE517-A14B-63C7-2EFE-16D0CDE290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283" y="3135086"/>
            <a:ext cx="10255777" cy="2602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2956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5B8F976-758D-AAA5-24C8-26C41F8C6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619352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EXPLORATORY DATA ANALYSIS (EDA)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9438BD-AC7D-3230-F017-664F1CBC38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8213" y="984477"/>
            <a:ext cx="5157787" cy="823912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“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</a:rPr>
              <a:t>DataFrame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” (before EDA &amp; preprocessing)</a:t>
            </a:r>
            <a:endParaRPr lang="en-IN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3E9BC7F-680D-F9DE-2F49-CB3F2CE4AE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19799" y="984477"/>
            <a:ext cx="5422901" cy="823912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“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</a:rPr>
              <a:t>DataFrame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” (after EDA &amp; preprocessing)</a:t>
            </a:r>
            <a:endParaRPr lang="en-IN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F1BF6B10-A50B-4076-7DEC-95052F93A93B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172200" y="1915886"/>
            <a:ext cx="5357813" cy="4273777"/>
          </a:xfrm>
          <a:prstGeom prst="rect">
            <a:avLst/>
          </a:prstGeo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652A37D7-5052-4886-61EA-95476C71633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61987" y="1915886"/>
            <a:ext cx="5357812" cy="4273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3587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F1BD16A-0D89-9B4D-E92C-075128515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8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ML Mode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AB3E617-6427-8810-5807-670BA61709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1196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sz="2400" b="1" dirty="0">
                <a:solidFill>
                  <a:schemeClr val="accent1">
                    <a:lumMod val="75000"/>
                  </a:schemeClr>
                </a:solidFill>
              </a:rPr>
              <a:t>Train/test split: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Dropped some of the columns which are not required for the Train and testing </a:t>
            </a:r>
          </a:p>
          <a:p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Test  size is set at ‘0.2’ meaning 20% data will be used to test and remaining 80 % data will be used to train the model </a:t>
            </a:r>
          </a:p>
          <a:p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0EBAF04-3F9D-4227-4215-6165F124B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9115" y="3454564"/>
            <a:ext cx="8901428" cy="2045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9644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6CB5D-39E4-47CA-CE0D-955B96289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973478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ML Mode </a:t>
            </a:r>
            <a:endParaRPr lang="en-IN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96E7C3-D49F-692A-1C47-1FBA9D955E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149804"/>
            <a:ext cx="5157787" cy="823912"/>
          </a:xfrm>
        </p:spPr>
        <p:txBody>
          <a:bodyPr/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List of Model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4CDD4A-E866-726B-34F7-73B6B0BBB2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14385" y="2162515"/>
            <a:ext cx="3927243" cy="2964656"/>
          </a:xfrm>
        </p:spPr>
        <p:txBody>
          <a:bodyPr/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KNN Regression</a:t>
            </a:r>
          </a:p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Decision Tree</a:t>
            </a:r>
          </a:p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Random Forest</a:t>
            </a:r>
          </a:p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Gradient Boosting</a:t>
            </a:r>
          </a:p>
          <a:p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</a:rPr>
              <a:t>ExtraTreesRegressor</a:t>
            </a:r>
            <a:endParaRPr lang="en-US" sz="2400" b="1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IN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82E8906-9775-8CC8-85C3-4BDDA531E1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4427" y="1338603"/>
            <a:ext cx="5183188" cy="823912"/>
          </a:xfrm>
        </p:spPr>
        <p:txBody>
          <a:bodyPr/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Evaluation Metric</a:t>
            </a:r>
            <a:br>
              <a:rPr lang="en-IN" dirty="0"/>
            </a:b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39D7D5-1D6A-9CBA-12F7-953F935D17BE}"/>
              </a:ext>
            </a:extLst>
          </p:cNvPr>
          <p:cNvSpPr txBox="1"/>
          <p:nvPr/>
        </p:nvSpPr>
        <p:spPr>
          <a:xfrm>
            <a:off x="1219199" y="5519397"/>
            <a:ext cx="96991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Note: linear regression is not implemented since most of the data seem to have non-linear relationship –This will impact the model and results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58BD9EA-F429-7976-9AE9-3B8D2F0485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229" y="1892601"/>
            <a:ext cx="5494785" cy="3343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320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0F5EC-84B7-E8A4-83F5-2588A0526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F7AC7-C9A3-3DA3-D9A6-408E3883D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ML Model-Metrics Summery</a:t>
            </a:r>
            <a:br>
              <a:rPr lang="en-IN" dirty="0"/>
            </a:br>
            <a:endParaRPr lang="en-IN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84C1584C-4A09-2C8B-47C1-708BF1B7A3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0726151"/>
              </p:ext>
            </p:extLst>
          </p:nvPr>
        </p:nvGraphicFramePr>
        <p:xfrm>
          <a:off x="838200" y="1690687"/>
          <a:ext cx="10515600" cy="45141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400835522"/>
                    </a:ext>
                  </a:extLst>
                </a:gridCol>
                <a:gridCol w="2683329">
                  <a:extLst>
                    <a:ext uri="{9D8B030D-6E8A-4147-A177-3AD203B41FA5}">
                      <a16:colId xmlns:a16="http://schemas.microsoft.com/office/drawing/2014/main" val="4054303995"/>
                    </a:ext>
                  </a:extLst>
                </a:gridCol>
                <a:gridCol w="2574471">
                  <a:extLst>
                    <a:ext uri="{9D8B030D-6E8A-4147-A177-3AD203B41FA5}">
                      <a16:colId xmlns:a16="http://schemas.microsoft.com/office/drawing/2014/main" val="402873622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888121009"/>
                    </a:ext>
                  </a:extLst>
                </a:gridCol>
              </a:tblGrid>
              <a:tr h="4687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R²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Remarks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1168350"/>
                  </a:ext>
                </a:extLst>
              </a:tr>
              <a:tr h="8090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KNN Regression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0.899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0.318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Moderate accuracy, higher error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3645083"/>
                  </a:ext>
                </a:extLst>
              </a:tr>
              <a:tr h="8090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Decision Tree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0.899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0.318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Same as KNN, limited learning depth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8388426"/>
                  </a:ext>
                </a:extLst>
              </a:tr>
              <a:tr h="8090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Random Forest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0.937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0.251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Strong performance, low error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0435977"/>
                  </a:ext>
                </a:extLst>
              </a:tr>
              <a:tr h="8090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Gradient Boosting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0.941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0.244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Excellent accuracy, slightly better than RF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696762"/>
                  </a:ext>
                </a:extLst>
              </a:tr>
              <a:tr h="8090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Extra Trees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0.941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0.243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Best performer, stable and precise predictions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94734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06145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51DEF-9060-2A41-6D8B-7245A7B6E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ACF9C-6ED6-0F99-2DED-AC6ACA7A5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ML Model- Train Vs Test </a:t>
            </a:r>
            <a:br>
              <a:rPr lang="en-IN" dirty="0"/>
            </a:br>
            <a:endParaRPr lang="en-IN" dirty="0"/>
          </a:p>
        </p:txBody>
      </p:sp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183B7E3C-1416-4DF7-CE7A-4A53E533A5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0119874"/>
              </p:ext>
            </p:extLst>
          </p:nvPr>
        </p:nvGraphicFramePr>
        <p:xfrm>
          <a:off x="838200" y="1825625"/>
          <a:ext cx="10515600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4114">
                  <a:extLst>
                    <a:ext uri="{9D8B030D-6E8A-4147-A177-3AD203B41FA5}">
                      <a16:colId xmlns:a16="http://schemas.microsoft.com/office/drawing/2014/main" val="673036315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814260402"/>
                    </a:ext>
                  </a:extLst>
                </a:gridCol>
                <a:gridCol w="1611086">
                  <a:extLst>
                    <a:ext uri="{9D8B030D-6E8A-4147-A177-3AD203B41FA5}">
                      <a16:colId xmlns:a16="http://schemas.microsoft.com/office/drawing/2014/main" val="3404708800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18575810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Training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Test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Remarks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7223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KNN Regression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Slight underfitting — decent but can be improved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08640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Decision Tree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Balanced but limited accuracy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86542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Random Forest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Excellent fit, minor overfitting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21864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Gradient Boosting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Very stable and well-generalized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43346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Extra Trees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Best balance — high accuracy with minimal overfitting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4479346"/>
                  </a:ext>
                </a:extLst>
              </a:tr>
            </a:tbl>
          </a:graphicData>
        </a:graphic>
      </p:graphicFrame>
      <p:pic>
        <p:nvPicPr>
          <p:cNvPr id="16" name="Picture 15">
            <a:extLst>
              <a:ext uri="{FF2B5EF4-FFF2-40B4-BE49-F238E27FC236}">
                <a16:creationId xmlns:a16="http://schemas.microsoft.com/office/drawing/2014/main" id="{CC7FD855-4D6A-746C-D9BB-729CFBD1F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2571" y="4454842"/>
            <a:ext cx="6803571" cy="1729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633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4190C-625C-E3B1-BDB6-E912CF4DB07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97429" y="267155"/>
            <a:ext cx="8817427" cy="843188"/>
          </a:xfrm>
        </p:spPr>
        <p:txBody>
          <a:bodyPr>
            <a:normAutofit/>
          </a:bodyPr>
          <a:lstStyle/>
          <a:p>
            <a:pPr algn="ctr"/>
            <a:r>
              <a:rPr lang="en-IN" sz="4900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Streamlit</a:t>
            </a:r>
            <a:r>
              <a:rPr lang="en-IN" sz="49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 Visualization 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DB189A5-5E0B-C0BE-4F60-6C8C2C23BD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135" y="1774372"/>
            <a:ext cx="6024151" cy="440871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5C9990B-A646-3D3E-0A8D-8238A1625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1" y="1774372"/>
            <a:ext cx="4822370" cy="4234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8122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C6935-8F1D-40E1-B690-59C2E5953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2601686" cy="625475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9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Conclusion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E2FA559-5BB0-C821-AEE8-EF356DFA70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78086" y="677862"/>
            <a:ext cx="7311751" cy="26218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089F09C-D7D4-A7D6-5981-0090F0CA8710}"/>
              </a:ext>
            </a:extLst>
          </p:cNvPr>
          <p:cNvSpPr txBox="1"/>
          <p:nvPr/>
        </p:nvSpPr>
        <p:spPr>
          <a:xfrm>
            <a:off x="696686" y="3299685"/>
            <a:ext cx="10042071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i="1" dirty="0">
                <a:solidFill>
                  <a:schemeClr val="accent1">
                    <a:lumMod val="75000"/>
                  </a:schemeClr>
                </a:solidFill>
              </a:rPr>
              <a:t>The predicted revenue varies widely across models (from $0.43 to $1.87).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i="1" dirty="0">
                <a:solidFill>
                  <a:schemeClr val="accent1">
                    <a:lumMod val="75000"/>
                  </a:schemeClr>
                </a:solidFill>
              </a:rPr>
              <a:t> KNN gives the lowest revenue prediction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i="1" dirty="0">
                <a:solidFill>
                  <a:schemeClr val="accent1">
                    <a:lumMod val="75000"/>
                  </a:schemeClr>
                </a:solidFill>
              </a:rPr>
              <a:t> Random Forest gives the highest prediction, which may be over-optimistic due to overfitting.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i="1" dirty="0">
                <a:solidFill>
                  <a:schemeClr val="accent1">
                    <a:lumMod val="75000"/>
                  </a:schemeClr>
                </a:solidFill>
              </a:rPr>
              <a:t> </a:t>
            </a:r>
            <a:r>
              <a:rPr lang="en-IN" sz="2400" i="1" dirty="0" err="1">
                <a:solidFill>
                  <a:schemeClr val="accent1">
                    <a:lumMod val="75000"/>
                  </a:schemeClr>
                </a:solidFill>
              </a:rPr>
              <a:t>ExtraTreesRegressor</a:t>
            </a:r>
            <a:r>
              <a:rPr lang="en-IN" sz="2400" i="1" dirty="0">
                <a:solidFill>
                  <a:schemeClr val="accent1">
                    <a:lumMod val="75000"/>
                  </a:schemeClr>
                </a:solidFill>
              </a:rPr>
              <a:t> and Gradient Boosting give balanced, realistic estimates, with </a:t>
            </a:r>
            <a:r>
              <a:rPr lang="en-IN" sz="2400" i="1" dirty="0" err="1">
                <a:solidFill>
                  <a:schemeClr val="accent1">
                    <a:lumMod val="75000"/>
                  </a:schemeClr>
                </a:solidFill>
              </a:rPr>
              <a:t>ExtraTrees</a:t>
            </a:r>
            <a:r>
              <a:rPr lang="en-IN" sz="2400" i="1" dirty="0">
                <a:solidFill>
                  <a:schemeClr val="accent1">
                    <a:lumMod val="75000"/>
                  </a:schemeClr>
                </a:solidFill>
              </a:rPr>
              <a:t> being more stable and less likely to overestimate revenue.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56697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6484152-6EE7-6794-192A-BE3E593F9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4543" y="2853303"/>
            <a:ext cx="4005943" cy="1325563"/>
          </a:xfrm>
        </p:spPr>
        <p:txBody>
          <a:bodyPr/>
          <a:lstStyle/>
          <a:p>
            <a:r>
              <a:rPr lang="en-IN" dirty="0"/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4245755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5515</TotalTime>
  <Words>751</Words>
  <Application>Microsoft Office PowerPoint</Application>
  <PresentationFormat>Widescreen</PresentationFormat>
  <Paragraphs>118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Arial</vt:lpstr>
      <vt:lpstr>Calibri</vt:lpstr>
      <vt:lpstr>Calibri Light</vt:lpstr>
      <vt:lpstr>Wingdings</vt:lpstr>
      <vt:lpstr>Office Theme</vt:lpstr>
      <vt:lpstr>Content Monetization Modeler</vt:lpstr>
      <vt:lpstr>PROJECT OBJECTIVE </vt:lpstr>
      <vt:lpstr>SCOPE OF WORK</vt:lpstr>
      <vt:lpstr> TOOLS &amp; TECHNOLOGIES</vt:lpstr>
      <vt:lpstr>DATA EXTRACTION AND DATAFRAME CREATION</vt:lpstr>
      <vt:lpstr>EXPLORATORY DATA ANALYSIS (EDA)</vt:lpstr>
      <vt:lpstr>EXPLORATORY DATA ANALYSIS (EDA)</vt:lpstr>
      <vt:lpstr>EXPLORATORY DATA ANALYSIS (EDA)</vt:lpstr>
      <vt:lpstr>SQL DATABASE AND TABLE CREATION</vt:lpstr>
      <vt:lpstr>EXPLORATORY DATA ANALYSIS (EDA)</vt:lpstr>
      <vt:lpstr>EXPLORATORY DATA ANALYSIS (EDA)</vt:lpstr>
      <vt:lpstr>ML Mode </vt:lpstr>
      <vt:lpstr>ML Mode </vt:lpstr>
      <vt:lpstr>ML Model-Metrics Summery </vt:lpstr>
      <vt:lpstr>ML Model- Train Vs Test  </vt:lpstr>
      <vt:lpstr>Streamlit  Visualization </vt:lpstr>
      <vt:lpstr>Conclusion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mohanrajmas19@gmail.com</dc:creator>
  <cp:lastModifiedBy>Mohanraj jayaraman</cp:lastModifiedBy>
  <cp:revision>27</cp:revision>
  <dcterms:created xsi:type="dcterms:W3CDTF">2025-10-22T18:25:53Z</dcterms:created>
  <dcterms:modified xsi:type="dcterms:W3CDTF">2025-11-12T09:51:28Z</dcterms:modified>
</cp:coreProperties>
</file>